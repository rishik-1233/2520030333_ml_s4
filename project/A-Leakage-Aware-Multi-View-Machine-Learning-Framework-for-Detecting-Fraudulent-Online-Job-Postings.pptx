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Inter"/>
      <p:regular r:id="rId201318"/>
    </p:embeddedFont>
    <p:embeddedFont>
      <p:font typeface="Inter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211858"/>
            <a:ext cx="10927878" cy="947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spc="-93" kern="0" dirty="0">
                <a:solidFill>
                  <a:srgbClr val="1122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Leakage-Aware Multi-View Machine Learning Framework for Detecting Fraudulent Online Job Postings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327116" y="2475706"/>
            <a:ext cx="11537463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50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EMSCAD – Employment Scam Aegean Dataset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31908" y="2890341"/>
            <a:ext cx="10927878" cy="19050"/>
          </a:xfrm>
          <a:prstGeom prst="roundRect">
            <a:avLst>
              <a:gd name="adj" fmla="val 49999"/>
            </a:avLst>
          </a:prstGeom>
          <a:solidFill>
            <a:srgbClr val="505050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31908" y="3284538"/>
            <a:ext cx="527126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47" kern="0" dirty="0">
                <a:solidFill>
                  <a:srgbClr val="1122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Team Members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31908" y="3679428"/>
            <a:ext cx="5271261" cy="87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Nimma Lokesh Reddy – 2520030366</a:t>
            </a:r>
            <a:endParaRPr lang="en-US" sz="1200" dirty="0"/>
          </a:p>
          <a:p>
            <a:pPr algn="l" indent="0" marL="0">
              <a:lnSpc>
                <a:spcPct val="104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Ramagiri Rishik Rao – 2520030333</a:t>
            </a:r>
            <a:endParaRPr lang="en-US" sz="1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Manne Yashwanth Manoj – 2520030369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94875" y="3284538"/>
            <a:ext cx="527126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47" kern="0" dirty="0">
                <a:solidFill>
                  <a:srgbClr val="1122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Under the Guidance of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294875" y="3679428"/>
            <a:ext cx="5271261" cy="1074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Jyothsna Datti</a:t>
            </a:r>
            <a:endParaRPr lang="en-US" sz="1200" dirty="0"/>
          </a:p>
          <a:p>
            <a:pPr algn="l" indent="0" marL="0">
              <a:lnSpc>
                <a:spcPct val="104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 Professor, CSE</a:t>
            </a:r>
            <a:endParaRPr lang="en-US" sz="1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94875" y="4911527"/>
            <a:ext cx="527126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47" kern="0" dirty="0">
                <a:solidFill>
                  <a:srgbClr val="1122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Academic Year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94875" y="5306417"/>
            <a:ext cx="5880846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2026–2027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765995"/>
            <a:ext cx="10927878" cy="47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spc="-93" kern="0" dirty="0">
                <a:solidFill>
                  <a:srgbClr val="1122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Problem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31908" y="2555875"/>
            <a:ext cx="11537463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recruitment is convenient — but fraudulent job postings can: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31908" y="2931021"/>
            <a:ext cx="3537258" cy="1055191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6211" y="3095327"/>
            <a:ext cx="320865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47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Mislead Applicants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6211" y="3427016"/>
            <a:ext cx="3208654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promises about roles, salaries, and companies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7119" y="2931021"/>
            <a:ext cx="3537358" cy="1055191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1421" y="3095327"/>
            <a:ext cx="320875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47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Request Money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91421" y="3427016"/>
            <a:ext cx="3208753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Upfront fees disguised as registration or training costs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22429" y="2931021"/>
            <a:ext cx="3537258" cy="1055191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6731" y="3095327"/>
            <a:ext cx="320865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47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Harvest Personal Data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86731" y="3427016"/>
            <a:ext cx="3208654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sensitive identity and financial information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4044" y="4341614"/>
            <a:ext cx="11300534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50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"Manual verification does not scale."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1908" y="4163913"/>
            <a:ext cx="19050" cy="552847"/>
          </a:xfrm>
          <a:prstGeom prst="roundRect">
            <a:avLst>
              <a:gd name="adj" fmla="val 49999"/>
            </a:avLst>
          </a:prstGeom>
          <a:solidFill>
            <a:srgbClr val="228B22"/>
          </a:solidFill>
          <a:ln/>
        </p:spPr>
      </p:sp>
      <p:sp>
        <p:nvSpPr>
          <p:cNvPr id="15" name="Text 13"/>
          <p:cNvSpPr/>
          <p:nvPr/>
        </p:nvSpPr>
        <p:spPr>
          <a:xfrm>
            <a:off x="327116" y="4894461"/>
            <a:ext cx="11537463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50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</a:t>
            </a:r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Automatically classify job postings as </a:t>
            </a:r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28B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GENUINE</a:t>
            </a:r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50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FRAUDULENT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40730"/>
            <a:ext cx="10927878" cy="293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spc="-58" kern="0" dirty="0">
                <a:solidFill>
                  <a:srgbClr val="1122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EMSCAD at a Glance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581507" y="904478"/>
            <a:ext cx="3526841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spc="-76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17,880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31908" y="1321792"/>
            <a:ext cx="5426038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spc="-29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Job Postings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083248" y="904478"/>
            <a:ext cx="3526940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spc="-76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17,014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33649" y="1321792"/>
            <a:ext cx="5426138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spc="-29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Genuine Postings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81507" y="1638697"/>
            <a:ext cx="3526841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spc="-76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866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31908" y="2056011"/>
            <a:ext cx="5426038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spc="-29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Fraudulent Postings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083248" y="1638697"/>
            <a:ext cx="3526940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spc="-76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4.84%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133649" y="2056011"/>
            <a:ext cx="5426138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spc="-29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Fraud Rate</a:t>
            </a:r>
            <a:endParaRPr lang="en-US" sz="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2270919"/>
            <a:ext cx="7103091" cy="397906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7116" y="6318151"/>
            <a:ext cx="11537463" cy="99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750" b="1" dirty="0">
                <a:solidFill>
                  <a:srgbClr val="5050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Severe class imbalance makes accuracy alone misleading.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48084"/>
            <a:ext cx="10927878" cy="331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50" spc="-65" kern="0" dirty="0">
                <a:solidFill>
                  <a:srgbClr val="1122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Hidden Problem: Data Leakage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1168668" y="1089819"/>
            <a:ext cx="2504615" cy="364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spc="-86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246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31908" y="1568053"/>
            <a:ext cx="3578135" cy="16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spc="-33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Repeated-Content Groups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843540" y="1089819"/>
            <a:ext cx="2504615" cy="364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spc="-86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527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4306780" y="1568053"/>
            <a:ext cx="3578135" cy="16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spc="-33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Rows in Repeated Groups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518411" y="1089819"/>
            <a:ext cx="2504615" cy="364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spc="-86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281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7981651" y="1568053"/>
            <a:ext cx="3578135" cy="16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spc="-33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Additional Duplicate Copies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6324" y="1820863"/>
            <a:ext cx="5159047" cy="38778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23318" y="3377796"/>
            <a:ext cx="940872" cy="1032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spc="-41" kern="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Leakage from Split Campaigns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030801" y="4600649"/>
            <a:ext cx="1399714" cy="413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spc="-41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Random row-level split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030801" y="5074921"/>
            <a:ext cx="1399714" cy="292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5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 split across sets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749224" y="4600649"/>
            <a:ext cx="1399714" cy="413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spc="-41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Train/Validation/Test overlap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749224" y="5074921"/>
            <a:ext cx="1399714" cy="292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5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Copies appear in all sets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70890" y="2057172"/>
            <a:ext cx="1437961" cy="413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spc="-41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Identical template copies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370890" y="2531444"/>
            <a:ext cx="1437961" cy="292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105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job campaign duplicated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7116" y="5785743"/>
            <a:ext cx="11537463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850" b="1" dirty="0">
                <a:solidFill>
                  <a:srgbClr val="5050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"Random row-level splitting can expose the same campaign to both training and testing."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31908" y="5990233"/>
            <a:ext cx="10927878" cy="319683"/>
          </a:xfrm>
          <a:prstGeom prst="roundRect">
            <a:avLst>
              <a:gd name="adj" fmla="val 14529"/>
            </a:avLst>
          </a:prstGeom>
          <a:solidFill>
            <a:srgbClr val="D6F5D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35" y="6095206"/>
            <a:ext cx="138208" cy="11053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91171" y="6095206"/>
            <a:ext cx="11067674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SOLUTION:</a:t>
            </a:r>
            <a:pPr algn="l" indent="0" marL="0">
              <a:lnSpc>
                <a:spcPct val="8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Keep each campaign / template group inside ONE partition only.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37654"/>
            <a:ext cx="10927878" cy="406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50" spc="-80" kern="0" dirty="0">
                <a:solidFill>
                  <a:srgbClr val="1122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Proposed Multi-View Framework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134" y="1076722"/>
            <a:ext cx="6731427" cy="5343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2144" y="3326242"/>
            <a:ext cx="1209680" cy="796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spc="-52" kern="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Multi-View Fraud Detection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672154" y="1478174"/>
            <a:ext cx="1799616" cy="531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spc="-52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Text View (TF-IDF)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672154" y="2087947"/>
            <a:ext cx="1799616" cy="410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35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Token-level lexical signals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672540" y="1610948"/>
            <a:ext cx="1799615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spc="-52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672540" y="1955174"/>
            <a:ext cx="1799615" cy="410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35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fraud probability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672540" y="5122060"/>
            <a:ext cx="1799615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spc="-52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Campaign View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672540" y="5466287"/>
            <a:ext cx="1799615" cy="410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35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and behavior signals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672154" y="5122060"/>
            <a:ext cx="1799616" cy="265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spc="-52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Semantic View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672154" y="5466287"/>
            <a:ext cx="1799616" cy="410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35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Embedding-based meaning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21252" y="3341916"/>
            <a:ext cx="1838954" cy="265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spc="-52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Metadata View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321252" y="3686143"/>
            <a:ext cx="1838954" cy="410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35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job attributes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013608" y="3351751"/>
            <a:ext cx="1838954" cy="265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spc="-52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Fusion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013608" y="3695978"/>
            <a:ext cx="1838954" cy="410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35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multi-view features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80827"/>
            <a:ext cx="10927878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-61" kern="0" dirty="0">
                <a:solidFill>
                  <a:srgbClr val="1122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Machine Learning &amp; Evaluation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31908" y="1055588"/>
            <a:ext cx="5115095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30" kern="0" dirty="0">
                <a:solidFill>
                  <a:srgbClr val="1122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908" y="1284585"/>
            <a:ext cx="5115095" cy="5571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7996" y="1399877"/>
            <a:ext cx="483371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30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97996" y="1620540"/>
            <a:ext cx="4833717" cy="10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Interpretable baseline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1908373"/>
            <a:ext cx="5115095" cy="5571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7996" y="2023666"/>
            <a:ext cx="483371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30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Linear SVM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97996" y="2244328"/>
            <a:ext cx="4833717" cy="10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for sparse text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2532162"/>
            <a:ext cx="5115095" cy="5571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7996" y="2647454"/>
            <a:ext cx="483371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30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Tree-Based Model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797996" y="2868116"/>
            <a:ext cx="4833717" cy="10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structured interactions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6003775" y="1055588"/>
            <a:ext cx="5562262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30" kern="0" dirty="0">
                <a:solidFill>
                  <a:srgbClr val="1122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6301424" y="1323082"/>
            <a:ext cx="5264614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30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Precision &amp; Recall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301424" y="1687513"/>
            <a:ext cx="5264614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30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301424" y="2051943"/>
            <a:ext cx="5264614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-30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PR-AUC &amp; MCC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003775" y="2319437"/>
            <a:ext cx="5562262" cy="277118"/>
          </a:xfrm>
          <a:prstGeom prst="roundRect">
            <a:avLst>
              <a:gd name="adj" fmla="val 15563"/>
            </a:avLst>
          </a:prstGeom>
          <a:solidFill>
            <a:srgbClr val="D6F5D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6364" y="2411710"/>
            <a:ext cx="128287" cy="102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37241" y="2405063"/>
            <a:ext cx="5735792" cy="10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Focus:</a:t>
            </a:r>
            <a:pPr algn="l" indent="0" marL="0">
              <a:lnSpc>
                <a:spcPct val="8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Fraud Recall · Fraud F1 · PR-AUC</a:t>
            </a:r>
            <a:endParaRPr lang="en-US" sz="8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3571" y="3239294"/>
            <a:ext cx="7044553" cy="3037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047566" y="5705073"/>
            <a:ext cx="1598188" cy="19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38" kern="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Test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3047566" y="5001853"/>
            <a:ext cx="1598188" cy="19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38" kern="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Validate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3047566" y="4305736"/>
            <a:ext cx="1598188" cy="19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38" kern="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Train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3047566" y="3602516"/>
            <a:ext cx="1598188" cy="191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38" kern="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Group Split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460798"/>
            <a:ext cx="10927878" cy="47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spc="-93" kern="0" dirty="0">
                <a:solidFill>
                  <a:srgbClr val="1122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145253" y="2309912"/>
            <a:ext cx="4851874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47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Fraud detection is a highly imbalanced classification problem.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707913" y="2309912"/>
            <a:ext cx="4851874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47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Multiple weak signals must be combined across views.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45253" y="3158927"/>
            <a:ext cx="4851874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47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Repeated templates create serious data leakage risk.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707913" y="3158927"/>
            <a:ext cx="4851874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47" kern="0" dirty="0">
                <a:solidFill>
                  <a:srgbClr val="50505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Group-isolated evaluation gives a more realistic test.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31908" y="3849985"/>
            <a:ext cx="10927878" cy="19050"/>
          </a:xfrm>
          <a:prstGeom prst="roundRect">
            <a:avLst>
              <a:gd name="adj" fmla="val 49999"/>
            </a:avLst>
          </a:prstGeom>
          <a:solidFill>
            <a:srgbClr val="505050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31908" y="4244181"/>
            <a:ext cx="527126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47" kern="0" dirty="0">
                <a:solidFill>
                  <a:srgbClr val="1122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Directions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1908" y="4639072"/>
            <a:ext cx="5271261" cy="702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04000"/>
              </a:lnSpc>
              <a:buSzPct val="100000"/>
              <a:buChar char="•"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deployment &amp; testing</a:t>
            </a:r>
            <a:endParaRPr lang="en-US" sz="1200" dirty="0"/>
          </a:p>
          <a:p>
            <a:pPr algn="l" marL="243840" indent="-243840">
              <a:lnSpc>
                <a:spcPct val="104000"/>
              </a:lnSpc>
              <a:buSzPct val="100000"/>
              <a:buChar char="•"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Explainability &amp; model transparency</a:t>
            </a:r>
            <a:endParaRPr lang="en-US" sz="1200" dirty="0"/>
          </a:p>
          <a:p>
            <a:pPr algn="l" marL="243840" indent="-243840">
              <a:lnSpc>
                <a:spcPct val="104000"/>
              </a:lnSpc>
              <a:buSzPct val="100000"/>
              <a:buChar char="•"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screening integration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94875" y="4244181"/>
            <a:ext cx="5271261" cy="653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50" spc="-129" kern="0" dirty="0">
                <a:solidFill>
                  <a:srgbClr val="11220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Thank You</a:t>
            </a:r>
            <a:endParaRPr lang="en-US" sz="4250" dirty="0"/>
          </a:p>
        </p:txBody>
      </p:sp>
      <p:sp>
        <p:nvSpPr>
          <p:cNvPr id="11" name="Text 9"/>
          <p:cNvSpPr/>
          <p:nvPr/>
        </p:nvSpPr>
        <p:spPr>
          <a:xfrm>
            <a:off x="5990083" y="5056088"/>
            <a:ext cx="5880846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0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2026-09-02T05:46:45Z</dcterms:created>
  <dcterms:modified xsi:type="dcterms:W3CDTF">2026-09-02T05:46:45Z</dcterms:modified>
</cp:coreProperties>
</file>